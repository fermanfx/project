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6D1404-7269-A2FA-96EF-CF989089199E}"/>
              </a:ext>
            </a:extLst>
          </p:cNvPr>
          <p:cNvSpPr txBox="1"/>
          <p:nvPr/>
        </p:nvSpPr>
        <p:spPr>
          <a:xfrm>
            <a:off x="1061884" y="988142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AF2ED-6B11-E75E-B33F-0F6AB4F398D9}"/>
              </a:ext>
            </a:extLst>
          </p:cNvPr>
          <p:cNvSpPr txBox="1"/>
          <p:nvPr/>
        </p:nvSpPr>
        <p:spPr>
          <a:xfrm>
            <a:off x="1071716" y="1389966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az-Latn-AZ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ə</a:t>
            </a:r>
            <a:r>
              <a:rPr lang="en-US" dirty="0" err="1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rman</a:t>
            </a:r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Xanki</a:t>
            </a:r>
            <a:r>
              <a:rPr lang="az-Latn-AZ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ş</a:t>
            </a:r>
            <a:r>
              <a:rPr lang="en-US" dirty="0" err="1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iyev</a:t>
            </a:r>
            <a:endParaRPr lang="en-US" dirty="0">
              <a:latin typeface="News Gothic MT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News Gothic MT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8E286-73BD-52F8-34D1-87F05B7F1E96}"/>
              </a:ext>
            </a:extLst>
          </p:cNvPr>
          <p:cNvSpPr txBox="1"/>
          <p:nvPr/>
        </p:nvSpPr>
        <p:spPr>
          <a:xfrm>
            <a:off x="1066800" y="1883896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Bayram Bayramov</a:t>
            </a:r>
            <a:endParaRPr lang="en-US" dirty="0">
              <a:latin typeface="News Gothic MT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EA02C-F6F5-2F52-DE56-B8E7098CE475}"/>
              </a:ext>
            </a:extLst>
          </p:cNvPr>
          <p:cNvSpPr txBox="1"/>
          <p:nvPr/>
        </p:nvSpPr>
        <p:spPr>
          <a:xfrm>
            <a:off x="1061884" y="3001722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Mahmu Ramazanov</a:t>
            </a:r>
            <a:endParaRPr lang="en-US" dirty="0">
              <a:latin typeface="News Gothic MT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6E509E-B9AF-21C5-FD4C-DA1A8F7A7B08}"/>
              </a:ext>
            </a:extLst>
          </p:cNvPr>
          <p:cNvSpPr txBox="1"/>
          <p:nvPr/>
        </p:nvSpPr>
        <p:spPr>
          <a:xfrm>
            <a:off x="1086465" y="2442809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Həsən Məmmədov</a:t>
            </a:r>
            <a:endParaRPr lang="en-US" dirty="0">
              <a:latin typeface="News Gothic MT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FF020E-9B11-B331-F68F-7D3549D85AE7}"/>
              </a:ext>
            </a:extLst>
          </p:cNvPr>
          <p:cNvSpPr txBox="1"/>
          <p:nvPr/>
        </p:nvSpPr>
        <p:spPr>
          <a:xfrm>
            <a:off x="5638800" y="2756180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Additional repo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0A7A7-0259-34BC-8318-278AB5E74A54}"/>
              </a:ext>
            </a:extLst>
          </p:cNvPr>
          <p:cNvSpPr txBox="1"/>
          <p:nvPr/>
        </p:nvSpPr>
        <p:spPr>
          <a:xfrm>
            <a:off x="5510981" y="1307976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Structer</a:t>
            </a:r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 </a:t>
            </a:r>
            <a:r>
              <a:rPr lang="en-US" dirty="0" err="1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Cotributor</a:t>
            </a:r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Project supervisor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3A2E4A-DD1F-2184-D2E2-9A5E16C457ED}"/>
              </a:ext>
            </a:extLst>
          </p:cNvPr>
          <p:cNvSpPr txBox="1"/>
          <p:nvPr/>
        </p:nvSpPr>
        <p:spPr>
          <a:xfrm>
            <a:off x="5552768" y="2111397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ews Gothic MT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implementation, Code Dev. Report fixer</a:t>
            </a:r>
          </a:p>
        </p:txBody>
      </p:sp>
    </p:spTree>
    <p:extLst>
      <p:ext uri="{BB962C8B-B14F-4D97-AF65-F5344CB8AC3E}">
        <p14:creationId xmlns:p14="http://schemas.microsoft.com/office/powerpoint/2010/main" val="161916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7C82C-AD4C-EEB1-5894-4CB8BD479432}"/>
              </a:ext>
            </a:extLst>
          </p:cNvPr>
          <p:cNvSpPr txBox="1"/>
          <p:nvPr/>
        </p:nvSpPr>
        <p:spPr>
          <a:xfrm>
            <a:off x="1676400" y="13716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Central question: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F0533-9ECE-9494-57C3-667D6A195A9F}"/>
              </a:ext>
            </a:extLst>
          </p:cNvPr>
          <p:cNvSpPr txBox="1"/>
          <p:nvPr/>
        </p:nvSpPr>
        <p:spPr>
          <a:xfrm>
            <a:off x="762000" y="2209800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information: 3 dataset, linear gaussian, moons, </a:t>
            </a:r>
            <a:r>
              <a:rPr lang="en-US" dirty="0" err="1"/>
              <a:t>digits_data</a:t>
            </a:r>
            <a:endParaRPr lang="en-US" dirty="0"/>
          </a:p>
          <a:p>
            <a:r>
              <a:rPr lang="en-US" dirty="0"/>
              <a:t>Model information: </a:t>
            </a:r>
            <a:r>
              <a:rPr lang="en-US" dirty="0" err="1"/>
              <a:t>Softmax</a:t>
            </a:r>
            <a:r>
              <a:rPr lang="en-US" dirty="0"/>
              <a:t>, NN</a:t>
            </a:r>
          </a:p>
          <a:p>
            <a:endParaRPr lang="en-US" dirty="0"/>
          </a:p>
          <a:p>
            <a:r>
              <a:rPr lang="en-US" dirty="0"/>
              <a:t>Result is that if a model is linear, then it will be able to capture patterns in the dataset that is also linear, or has low rank. Otherwise, to capture non-linearity, there should be sufficient representational capacity of the model.</a:t>
            </a:r>
          </a:p>
          <a:p>
            <a:endParaRPr lang="en-US" dirty="0"/>
          </a:p>
          <a:p>
            <a:r>
              <a:rPr lang="en-US" dirty="0"/>
              <a:t>Why is in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3561677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F87E2E-2D5B-5C91-B65E-A329FC13C42F}"/>
              </a:ext>
            </a:extLst>
          </p:cNvPr>
          <p:cNvSpPr txBox="1"/>
          <p:nvPr/>
        </p:nvSpPr>
        <p:spPr>
          <a:xfrm>
            <a:off x="1600200" y="9144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the comparison is fair?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3F883-40EA-36BD-D752-11801098FF12}"/>
              </a:ext>
            </a:extLst>
          </p:cNvPr>
          <p:cNvSpPr txBox="1"/>
          <p:nvPr/>
        </p:nvSpPr>
        <p:spPr>
          <a:xfrm>
            <a:off x="1600200" y="175260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Because, </a:t>
            </a:r>
            <a:r>
              <a:rPr lang="en-US" dirty="0" err="1"/>
              <a:t>softmax</a:t>
            </a:r>
            <a:r>
              <a:rPr lang="en-US" dirty="0"/>
              <a:t> and one layer NN capture the same linear relation. Although the Activation function used was tanh, it adds negligible non-linearity.</a:t>
            </a:r>
          </a:p>
          <a:p>
            <a:endParaRPr lang="en-US" dirty="0"/>
          </a:p>
          <a:p>
            <a:r>
              <a:rPr lang="en-US" dirty="0"/>
              <a:t>Additionally, they were evaluated and trained the same, using same seed, and structure.</a:t>
            </a:r>
          </a:p>
        </p:txBody>
      </p:sp>
    </p:spTree>
    <p:extLst>
      <p:ext uri="{BB962C8B-B14F-4D97-AF65-F5344CB8AC3E}">
        <p14:creationId xmlns:p14="http://schemas.microsoft.com/office/powerpoint/2010/main" val="306906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F65EB-644A-77A8-B846-9F304C65A6E0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Where linear structure was efficient?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47EDD-C105-8C84-ED7A-9FEABB6F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449" y="364142"/>
            <a:ext cx="9101157" cy="386799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8DCC5-E08B-2548-63A2-7877F0F3832C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Linear structure of the model was efficient where the data was also linear, for example, gaussian blob. Additionally, digits_data had low rank, which means that it can be represented used few dimensions, which was the reason for this model represented in linear fashion.</a:t>
            </a:r>
          </a:p>
        </p:txBody>
      </p:sp>
    </p:spTree>
    <p:extLst>
      <p:ext uri="{BB962C8B-B14F-4D97-AF65-F5344CB8AC3E}">
        <p14:creationId xmlns:p14="http://schemas.microsoft.com/office/powerpoint/2010/main" val="57453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8EB3A-0775-E0BF-1D24-10DEAA29F744}"/>
              </a:ext>
            </a:extLst>
          </p:cNvPr>
          <p:cNvSpPr txBox="1"/>
          <p:nvPr/>
        </p:nvSpPr>
        <p:spPr>
          <a:xfrm>
            <a:off x="1255060" y="5279511"/>
            <a:ext cx="9681882" cy="739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Where non-linearity helped?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BE126-D081-69AC-7BDF-44E67D991FB6}"/>
              </a:ext>
            </a:extLst>
          </p:cNvPr>
          <p:cNvSpPr txBox="1"/>
          <p:nvPr/>
        </p:nvSpPr>
        <p:spPr>
          <a:xfrm>
            <a:off x="2426447" y="6019391"/>
            <a:ext cx="7315199" cy="336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Moons dataset integrates non-linearity inside it. It was helpful in that case.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60395-5C99-6F05-935B-E520C3265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09" y="579473"/>
            <a:ext cx="9939980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1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1C1370-310F-5BF6-1593-9EB5BA69EDF2}"/>
              </a:ext>
            </a:extLst>
          </p:cNvPr>
          <p:cNvSpPr txBox="1"/>
          <p:nvPr/>
        </p:nvSpPr>
        <p:spPr>
          <a:xfrm>
            <a:off x="781061" y="457199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Momentum and Adam converged to solution more efficiently, as opposed to SGD.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46ABF-D42C-BAFB-4B4A-14545AB551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781" y="609600"/>
            <a:ext cx="4152922" cy="4950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51B46C-FC9F-2534-E516-FBC60A14ED9A}"/>
              </a:ext>
            </a:extLst>
          </p:cNvPr>
          <p:cNvSpPr txBox="1"/>
          <p:nvPr/>
        </p:nvSpPr>
        <p:spPr>
          <a:xfrm>
            <a:off x="1066800" y="1905000"/>
            <a:ext cx="4152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dddd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4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CEA474-56F2-A3A1-BF0D-55370246CA2B}"/>
              </a:ext>
            </a:extLst>
          </p:cNvPr>
          <p:cNvSpPr txBox="1"/>
          <p:nvPr/>
        </p:nvSpPr>
        <p:spPr>
          <a:xfrm>
            <a:off x="2514600" y="7620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Digits_data</a:t>
            </a:r>
            <a:r>
              <a:rPr lang="en-US" dirty="0"/>
              <a:t> contains non-linearity, which NN captures.</a:t>
            </a:r>
          </a:p>
        </p:txBody>
      </p:sp>
    </p:spTree>
    <p:extLst>
      <p:ext uri="{BB962C8B-B14F-4D97-AF65-F5344CB8AC3E}">
        <p14:creationId xmlns:p14="http://schemas.microsoft.com/office/powerpoint/2010/main" val="318983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4D506-C1A9-36BF-A4C7-46DB8A14D4B8}"/>
              </a:ext>
            </a:extLst>
          </p:cNvPr>
          <p:cNvSpPr txBox="1"/>
          <p:nvPr/>
        </p:nvSpPr>
        <p:spPr>
          <a:xfrm>
            <a:off x="818984" y="4230093"/>
            <a:ext cx="4150581" cy="1800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Failure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21BE9-75AF-8966-2836-38E71C2060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94" y="457200"/>
            <a:ext cx="8130173" cy="3455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43EE55-2F3A-3E75-12B7-C6CB0C3C7062}"/>
              </a:ext>
            </a:extLst>
          </p:cNvPr>
          <p:cNvSpPr txBox="1"/>
          <p:nvPr/>
        </p:nvSpPr>
        <p:spPr>
          <a:xfrm>
            <a:off x="5246415" y="4230094"/>
            <a:ext cx="6235268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H=1 is not enough. Representational capacity matters. In this case, model is only able to capture linear relations, which shows the same results with softmax model.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Although the model converged okay, it lacks the skill of classifying some instances, because NNs have representational capacity. For this case, it was not enough.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3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ED70D-0B92-5386-0AF4-681DFFDEB8B8}"/>
              </a:ext>
            </a:extLst>
          </p:cNvPr>
          <p:cNvSpPr txBox="1"/>
          <p:nvPr/>
        </p:nvSpPr>
        <p:spPr>
          <a:xfrm>
            <a:off x="818984" y="4230093"/>
            <a:ext cx="4150581" cy="1800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repeated seed evaluation adds beyond a single-run?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8042C-1342-7BF9-5CE4-13BA80602E03}"/>
              </a:ext>
            </a:extLst>
          </p:cNvPr>
          <p:cNvSpPr txBox="1"/>
          <p:nvPr/>
        </p:nvSpPr>
        <p:spPr>
          <a:xfrm>
            <a:off x="5246415" y="4230094"/>
            <a:ext cx="6235268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Single seed evaluation gives just a number, which can be confusing to make decision. Repeated seed evaluation treats the model predictions as distributions, which is useful to know if model’s predictions vary too much.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069250-5D30-7399-E7CF-97CAE798E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084850"/>
              </p:ext>
            </p:extLst>
          </p:nvPr>
        </p:nvGraphicFramePr>
        <p:xfrm>
          <a:off x="912442" y="457200"/>
          <a:ext cx="10428081" cy="34553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5591">
                  <a:extLst>
                    <a:ext uri="{9D8B030D-6E8A-4147-A177-3AD203B41FA5}">
                      <a16:colId xmlns:a16="http://schemas.microsoft.com/office/drawing/2014/main" val="1255931095"/>
                    </a:ext>
                  </a:extLst>
                </a:gridCol>
                <a:gridCol w="2082347">
                  <a:extLst>
                    <a:ext uri="{9D8B030D-6E8A-4147-A177-3AD203B41FA5}">
                      <a16:colId xmlns:a16="http://schemas.microsoft.com/office/drawing/2014/main" val="2109797120"/>
                    </a:ext>
                  </a:extLst>
                </a:gridCol>
                <a:gridCol w="1779966">
                  <a:extLst>
                    <a:ext uri="{9D8B030D-6E8A-4147-A177-3AD203B41FA5}">
                      <a16:colId xmlns:a16="http://schemas.microsoft.com/office/drawing/2014/main" val="4076642482"/>
                    </a:ext>
                  </a:extLst>
                </a:gridCol>
                <a:gridCol w="2360211">
                  <a:extLst>
                    <a:ext uri="{9D8B030D-6E8A-4147-A177-3AD203B41FA5}">
                      <a16:colId xmlns:a16="http://schemas.microsoft.com/office/drawing/2014/main" val="1517589963"/>
                    </a:ext>
                  </a:extLst>
                </a:gridCol>
                <a:gridCol w="1779966">
                  <a:extLst>
                    <a:ext uri="{9D8B030D-6E8A-4147-A177-3AD203B41FA5}">
                      <a16:colId xmlns:a16="http://schemas.microsoft.com/office/drawing/2014/main" val="4185760573"/>
                    </a:ext>
                  </a:extLst>
                </a:gridCol>
              </a:tblGrid>
              <a:tr h="9978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Model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Mean Accuracy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95% CI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Mean Loss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95% CI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extLst>
                  <a:ext uri="{0D108BD9-81ED-4DB2-BD59-A6C34878D82A}">
                    <a16:rowId xmlns:a16="http://schemas.microsoft.com/office/drawing/2014/main" val="3356247397"/>
                  </a:ext>
                </a:extLst>
              </a:tr>
              <a:tr h="9978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Softmax Regression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0.9380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[0.936, 0.940]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0.2695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[0.269, 0.270]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extLst>
                  <a:ext uri="{0D108BD9-81ED-4DB2-BD59-A6C34878D82A}">
                    <a16:rowId xmlns:a16="http://schemas.microsoft.com/office/drawing/2014/main" val="3222141032"/>
                  </a:ext>
                </a:extLst>
              </a:tr>
              <a:tr h="14596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Neural Network (h=32)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0.9533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[0.950, 0.956]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</a:rPr>
                        <a:t>0.1657</a:t>
                      </a:r>
                      <a:endParaRPr lang="en-US" sz="2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</a:rPr>
                        <a:t>[0.161, 0.171]</a:t>
                      </a:r>
                      <a:endParaRPr lang="en-US" sz="2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6525" marR="176525" marT="0" marB="0"/>
                </a:tc>
                <a:extLst>
                  <a:ext uri="{0D108BD9-81ED-4DB2-BD59-A6C34878D82A}">
                    <a16:rowId xmlns:a16="http://schemas.microsoft.com/office/drawing/2014/main" val="2389092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956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407AE6-8969-894E-A817-6988627EAA9D}"/>
              </a:ext>
            </a:extLst>
          </p:cNvPr>
          <p:cNvSpPr txBox="1"/>
          <p:nvPr/>
        </p:nvSpPr>
        <p:spPr>
          <a:xfrm>
            <a:off x="1136397" y="502021"/>
            <a:ext cx="9688296" cy="16429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B0489-19E5-3F3E-BF89-8BC9D8D65F8D}"/>
              </a:ext>
            </a:extLst>
          </p:cNvPr>
          <p:cNvSpPr txBox="1"/>
          <p:nvPr/>
        </p:nvSpPr>
        <p:spPr>
          <a:xfrm>
            <a:off x="1136397" y="2418409"/>
            <a:ext cx="9688296" cy="3454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used 3 datasets, same train/</a:t>
            </a:r>
            <a:r>
              <a:rPr lang="en-US" sz="2000" dirty="0" err="1"/>
              <a:t>val</a:t>
            </a:r>
            <a:r>
              <a:rPr lang="en-US" sz="2000" dirty="0"/>
              <a:t>/test split, no hyperparameter optimization, same layer number evaluation, 2 metrics, same loss to evaluate.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8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DD3391-8A0C-923F-F515-AB62E6A03662}"/>
              </a:ext>
            </a:extLst>
          </p:cNvPr>
          <p:cNvSpPr txBox="1"/>
          <p:nvPr/>
        </p:nvSpPr>
        <p:spPr>
          <a:xfrm>
            <a:off x="1676400" y="6858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representational change does the hidden layer provide?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0CE8C-C610-9548-2D13-1957EB756341}"/>
              </a:ext>
            </a:extLst>
          </p:cNvPr>
          <p:cNvSpPr txBox="1"/>
          <p:nvPr/>
        </p:nvSpPr>
        <p:spPr>
          <a:xfrm>
            <a:off x="1981200" y="1905000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wrap decision boundary, can represent </a:t>
            </a:r>
            <a:r>
              <a:rPr lang="en-US"/>
              <a:t>complex geometry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993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9043" y="4611346"/>
            <a:ext cx="7181215" cy="368300"/>
            <a:chOff x="4013321" y="3753992"/>
            <a:chExt cx="7181215" cy="368300"/>
          </a:xfrm>
          <a:noFill/>
        </p:grpSpPr>
        <p:sp>
          <p:nvSpPr>
            <p:cNvPr id="3" name="TextBox 3"/>
            <p:cNvSpPr txBox="1"/>
            <p:nvPr/>
          </p:nvSpPr>
          <p:spPr>
            <a:xfrm>
              <a:off x="4013321" y="3753992"/>
              <a:ext cx="2393315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18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Reporter:XXX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809226" y="3753992"/>
              <a:ext cx="4385310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/>
              <a:r>
                <a:rPr lang="en-US" sz="18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Date:20XX-XX-XX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650875" y="4625316"/>
            <a:ext cx="354330" cy="354330"/>
          </a:xfrm>
          <a:prstGeom prst="ellipse">
            <a:avLst/>
          </a:prstGeom>
          <a:solidFill>
            <a:srgbClr val="E5A744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419475" y="4625316"/>
            <a:ext cx="354330" cy="354330"/>
          </a:xfrm>
          <a:prstGeom prst="ellipse">
            <a:avLst/>
          </a:prstGeom>
          <a:solidFill>
            <a:srgbClr val="E5A744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0" y="381000"/>
            <a:ext cx="12192000" cy="340169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5400" b="1" i="0" u="none" spc="300" baseline="0" dirty="0">
                <a:solidFill>
                  <a:srgbClr val="FFFFFF"/>
                </a:solidFill>
                <a:latin typeface="思源黑体 Medium"/>
                <a:ea typeface="思源黑体 Medium"/>
              </a:rPr>
              <a:t>When to Use Non-Linear Classifiers: A Comparative Study of Linear vs. One-Hidden-Layer Neural Networks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0260" y="2344420"/>
            <a:ext cx="3133725" cy="157099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ctr" fontAlgn="auto">
              <a:lnSpc>
                <a:spcPct val="96000"/>
              </a:lnSpc>
              <a:defRPr/>
            </a:pPr>
            <a:r>
              <a:rPr lang="en-US" sz="6640" b="0" i="0" u="none" spc="-442" baseline="0">
                <a:solidFill>
                  <a:srgbClr val="E5A744"/>
                </a:solidFill>
                <a:latin typeface="思源黑体 Medium"/>
                <a:ea typeface="思源黑体 Medium"/>
              </a:rPr>
              <a:t>Contents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12037" y="2327148"/>
            <a:ext cx="4805414" cy="485732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160" b="0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Central Question and Hypotheses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604385" y="2249526"/>
            <a:ext cx="748123" cy="652881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5512037" y="3114319"/>
            <a:ext cx="4805414" cy="485732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160" b="0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Ensuring a Fair Comparison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604385" y="3036697"/>
            <a:ext cx="748123" cy="652881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604385" y="3823869"/>
            <a:ext cx="748123" cy="652881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604385" y="3823869"/>
            <a:ext cx="748123" cy="652881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5140" y="2088515"/>
            <a:ext cx="5603240" cy="9194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1" i="0" u="none" spc="400" baseline="0">
                <a:ln/>
                <a:solidFill>
                  <a:srgbClr val="E5A744"/>
                </a:solidFill>
                <a:effectLst/>
                <a:latin typeface="思源黑体 Medium"/>
                <a:ea typeface="思源黑体 Medium"/>
              </a:rPr>
              <a:t>PART  01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496435" y="2969895"/>
            <a:ext cx="6671945" cy="20624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1" i="0" u="none" spc="300" baseline="0">
                <a:solidFill>
                  <a:srgbClr val="E5A744"/>
                </a:solidFill>
                <a:latin typeface="思源黑体 Medium"/>
                <a:ea typeface="思源黑体 Medium"/>
              </a:rPr>
              <a:t>Central Question and Hypotheses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17290" y="4088130"/>
            <a:ext cx="4723130" cy="2249805"/>
          </a:xfrm>
          <a:custGeom>
            <a:avLst/>
            <a:gdLst/>
            <a:ahLst/>
            <a:cxnLst/>
            <a:rect l="l" t="t" r="r" b="b"/>
            <a:pathLst>
              <a:path w="7079" h="3400">
                <a:moveTo>
                  <a:pt x="0" y="1763"/>
                </a:moveTo>
                <a:lnTo>
                  <a:pt x="3521" y="0"/>
                </a:lnTo>
                <a:lnTo>
                  <a:pt x="7079" y="1818"/>
                </a:lnTo>
                <a:lnTo>
                  <a:pt x="3539" y="3400"/>
                </a:lnTo>
                <a:lnTo>
                  <a:pt x="0" y="176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80000"/>
                </a:schemeClr>
              </a:gs>
              <a:gs pos="100000">
                <a:schemeClr val="accent1">
                  <a:alpha val="85000"/>
                </a:schemeClr>
              </a:gs>
            </a:gsLst>
            <a:lin ang="16200000"/>
          </a:gradFill>
          <a:ln>
            <a:gradFill>
              <a:gsLst>
                <a:gs pos="0">
                  <a:schemeClr val="accent1">
                    <a:alpha val="70000"/>
                    <a:lumMod val="45000"/>
                    <a:lumOff val="55000"/>
                  </a:schemeClr>
                </a:gs>
                <a:gs pos="37000">
                  <a:schemeClr val="accent1">
                    <a:alpha val="70000"/>
                    <a:lumMod val="5000"/>
                    <a:lumOff val="95000"/>
                  </a:schemeClr>
                </a:gs>
                <a:gs pos="71000">
                  <a:schemeClr val="accent1">
                    <a:alpha val="70000"/>
                    <a:lumMod val="30000"/>
                    <a:lumOff val="70000"/>
                  </a:schemeClr>
                </a:gs>
                <a:gs pos="100000">
                  <a:schemeClr val="bg1">
                    <a:alpha val="70000"/>
                  </a:schemeClr>
                </a:gs>
              </a:gsLst>
              <a:lin ang="3660000"/>
            </a:gradFill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18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04</a:t>
            </a:r>
          </a:p>
        </p:txBody>
      </p:sp>
      <p:sp>
        <p:nvSpPr>
          <p:cNvPr id="3" name="Freeform 3"/>
          <p:cNvSpPr/>
          <p:nvPr/>
        </p:nvSpPr>
        <p:spPr>
          <a:xfrm>
            <a:off x="4367530" y="3470910"/>
            <a:ext cx="3423285" cy="1621155"/>
          </a:xfrm>
          <a:custGeom>
            <a:avLst/>
            <a:gdLst/>
            <a:ahLst/>
            <a:cxnLst/>
            <a:rect l="l" t="t" r="r" b="b"/>
            <a:pathLst>
              <a:path w="5131" h="2430">
                <a:moveTo>
                  <a:pt x="0" y="1185"/>
                </a:moveTo>
                <a:lnTo>
                  <a:pt x="2561" y="0"/>
                </a:lnTo>
                <a:lnTo>
                  <a:pt x="5131" y="1197"/>
                </a:lnTo>
                <a:lnTo>
                  <a:pt x="2561" y="2430"/>
                </a:lnTo>
                <a:lnTo>
                  <a:pt x="0" y="118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80000"/>
                </a:schemeClr>
              </a:gs>
              <a:gs pos="100000">
                <a:schemeClr val="accent1">
                  <a:alpha val="85000"/>
                </a:schemeClr>
              </a:gs>
            </a:gsLst>
            <a:lin ang="16200000"/>
          </a:gradFill>
          <a:ln>
            <a:gradFill>
              <a:gsLst>
                <a:gs pos="0">
                  <a:schemeClr val="accent1">
                    <a:alpha val="70000"/>
                    <a:lumMod val="45000"/>
                    <a:lumOff val="55000"/>
                  </a:schemeClr>
                </a:gs>
                <a:gs pos="37000">
                  <a:schemeClr val="accent1">
                    <a:alpha val="70000"/>
                    <a:lumMod val="5000"/>
                    <a:lumOff val="95000"/>
                  </a:schemeClr>
                </a:gs>
                <a:gs pos="71000">
                  <a:schemeClr val="accent1">
                    <a:alpha val="70000"/>
                    <a:lumMod val="30000"/>
                    <a:lumOff val="70000"/>
                  </a:schemeClr>
                </a:gs>
                <a:gs pos="90000">
                  <a:schemeClr val="bg1">
                    <a:alpha val="70000"/>
                  </a:schemeClr>
                </a:gs>
              </a:gsLst>
              <a:lin ang="3660000"/>
            </a:gradFill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18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03</a:t>
            </a:r>
          </a:p>
        </p:txBody>
      </p:sp>
      <p:sp>
        <p:nvSpPr>
          <p:cNvPr id="4" name="Freeform 4"/>
          <p:cNvSpPr/>
          <p:nvPr/>
        </p:nvSpPr>
        <p:spPr>
          <a:xfrm>
            <a:off x="4918710" y="2912745"/>
            <a:ext cx="2320925" cy="1088390"/>
          </a:xfrm>
          <a:custGeom>
            <a:avLst/>
            <a:gdLst/>
            <a:ahLst/>
            <a:cxnLst/>
            <a:rect l="l" t="t" r="r" b="b"/>
            <a:pathLst>
              <a:path w="3479" h="1631">
                <a:moveTo>
                  <a:pt x="0" y="791"/>
                </a:moveTo>
                <a:lnTo>
                  <a:pt x="1740" y="0"/>
                </a:lnTo>
                <a:lnTo>
                  <a:pt x="3479" y="806"/>
                </a:lnTo>
                <a:lnTo>
                  <a:pt x="1744" y="1631"/>
                </a:lnTo>
                <a:lnTo>
                  <a:pt x="0" y="791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7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16200000"/>
          </a:gradFill>
          <a:ln>
            <a:gradFill>
              <a:gsLst>
                <a:gs pos="0">
                  <a:schemeClr val="accent1">
                    <a:alpha val="70000"/>
                    <a:lumMod val="45000"/>
                    <a:lumOff val="55000"/>
                  </a:schemeClr>
                </a:gs>
                <a:gs pos="37000">
                  <a:schemeClr val="accent1">
                    <a:alpha val="70000"/>
                    <a:lumMod val="5000"/>
                    <a:lumOff val="95000"/>
                  </a:schemeClr>
                </a:gs>
                <a:gs pos="71000">
                  <a:schemeClr val="accent1">
                    <a:alpha val="70000"/>
                    <a:lumMod val="30000"/>
                    <a:lumOff val="70000"/>
                  </a:schemeClr>
                </a:gs>
                <a:gs pos="100000">
                  <a:schemeClr val="bg1">
                    <a:alpha val="70000"/>
                  </a:schemeClr>
                </a:gs>
              </a:gsLst>
              <a:lin ang="16200000"/>
            </a:gradFill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18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5" name="Freeform 5"/>
          <p:cNvSpPr/>
          <p:nvPr/>
        </p:nvSpPr>
        <p:spPr>
          <a:xfrm>
            <a:off x="5339715" y="2453005"/>
            <a:ext cx="1443355" cy="666115"/>
          </a:xfrm>
          <a:custGeom>
            <a:avLst/>
            <a:gdLst/>
            <a:ahLst/>
            <a:cxnLst/>
            <a:rect l="l" t="t" r="r" b="b"/>
            <a:pathLst>
              <a:path w="2216" h="1012">
                <a:moveTo>
                  <a:pt x="0" y="499"/>
                </a:moveTo>
                <a:lnTo>
                  <a:pt x="1084" y="0"/>
                </a:lnTo>
                <a:lnTo>
                  <a:pt x="2216" y="506"/>
                </a:lnTo>
                <a:lnTo>
                  <a:pt x="1087" y="1012"/>
                </a:lnTo>
                <a:lnTo>
                  <a:pt x="0" y="49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35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/>
          </a:gradFill>
          <a:ln>
            <a:gradFill>
              <a:gsLst>
                <a:gs pos="0">
                  <a:schemeClr val="accent1">
                    <a:alpha val="70000"/>
                    <a:lumMod val="45000"/>
                    <a:lumOff val="55000"/>
                  </a:schemeClr>
                </a:gs>
                <a:gs pos="37000">
                  <a:schemeClr val="accent1">
                    <a:alpha val="70000"/>
                    <a:lumMod val="5000"/>
                    <a:lumOff val="95000"/>
                  </a:schemeClr>
                </a:gs>
                <a:gs pos="71000">
                  <a:schemeClr val="accent1">
                    <a:alpha val="70000"/>
                    <a:lumMod val="30000"/>
                    <a:lumOff val="70000"/>
                  </a:schemeClr>
                </a:gs>
                <a:gs pos="100000">
                  <a:schemeClr val="bg1">
                    <a:alpha val="70000"/>
                  </a:schemeClr>
                </a:gs>
              </a:gsLst>
              <a:lin ang="16200000"/>
            </a:gradFill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351145" y="1699895"/>
            <a:ext cx="1435735" cy="1419225"/>
          </a:xfrm>
          <a:custGeom>
            <a:avLst/>
            <a:gdLst/>
            <a:ahLst/>
            <a:cxnLst/>
            <a:rect l="l" t="t" r="r" b="b"/>
            <a:pathLst>
              <a:path w="2196" h="2127">
                <a:moveTo>
                  <a:pt x="0" y="1625"/>
                </a:moveTo>
                <a:lnTo>
                  <a:pt x="1086" y="0"/>
                </a:lnTo>
                <a:lnTo>
                  <a:pt x="2196" y="1624"/>
                </a:lnTo>
                <a:lnTo>
                  <a:pt x="1082" y="2127"/>
                </a:lnTo>
                <a:lnTo>
                  <a:pt x="0" y="162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100000"/>
                </a:schemeClr>
              </a:gs>
              <a:gs pos="100000">
                <a:schemeClr val="accent1"/>
              </a:gs>
            </a:gsLst>
            <a:lin ang="16200000"/>
          </a:gradFill>
          <a:ln>
            <a:gradFill>
              <a:gsLst>
                <a:gs pos="0">
                  <a:schemeClr val="accent1">
                    <a:alpha val="70000"/>
                    <a:lumMod val="45000"/>
                    <a:lumOff val="55000"/>
                  </a:schemeClr>
                </a:gs>
                <a:gs pos="37000">
                  <a:srgbClr val="D6CCBE"/>
                </a:gs>
                <a:gs pos="71000">
                  <a:schemeClr val="accent1">
                    <a:alpha val="70000"/>
                    <a:lumMod val="30000"/>
                    <a:lumOff val="70000"/>
                  </a:schemeClr>
                </a:gs>
                <a:gs pos="100000">
                  <a:srgbClr val="FFFFFF">
                    <a:alpha val="70000"/>
                  </a:srgbClr>
                </a:gs>
              </a:gsLst>
              <a:lin ang="16200000"/>
            </a:gradFill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18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6700" y="1127760"/>
            <a:ext cx="3826510" cy="72009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r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Core Research Question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66065" y="1849755"/>
            <a:ext cx="3827145" cy="19221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 fontScale="92500"/>
          </a:bodyPr>
          <a:lstStyle/>
          <a:p>
            <a:pPr marL="0" indent="0" algn="r" fontAlgn="auto">
              <a:lnSpc>
                <a:spcPct val="117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This project investigates when a one-hidden-layer non-linear classifier improves upon a linear decision boundary, and when the added complexity is unnecessary. It implements two models from scratch using NumPy: Softmax Regression (linear) and a One-Hidden-Layer Neural Network (non-linear with tanh activation).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66700" y="3771265"/>
            <a:ext cx="3312000" cy="720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r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Systematic Dataset Testing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66700" y="4493260"/>
            <a:ext cx="3312160" cy="223583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3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Three datasets were used to test the boundary: Linear Gaussian (linearly separable), Moons (non-linear geometry), and Digits (8x8 handwritten digits from scikit-learn).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017510" y="1122680"/>
            <a:ext cx="3892550" cy="72009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Experimental Framework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017510" y="1809750"/>
            <a:ext cx="3930650" cy="195389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Both models include full forward/backward propagation, three optimization algorithms (SGD, Momentum, Adam), and rigorous gradient verification. The implementation underwent extensive sanity checks, including gradient checks and NaN/Inf detection.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695690" y="3769995"/>
            <a:ext cx="3312000" cy="720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Guiding Hypotheses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695690" y="4491990"/>
            <a:ext cx="3312160" cy="223583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Three key hypotheses were tested: 1) On linear data, both models perform identically; 2) On non-linear data, the neural network gains a significant advantage; 3) Hidden width increases complexity but may lead to overfitting.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717290" y="1699895"/>
            <a:ext cx="4724400" cy="4638675"/>
          </a:xfrm>
          <a:custGeom>
            <a:avLst/>
            <a:gdLst/>
            <a:ahLst/>
            <a:cxnLst/>
            <a:rect l="l" t="t" r="r" b="b"/>
            <a:pathLst>
              <a:path w="7132" h="7038">
                <a:moveTo>
                  <a:pt x="0" y="5387"/>
                </a:moveTo>
                <a:lnTo>
                  <a:pt x="3539" y="0"/>
                </a:lnTo>
                <a:lnTo>
                  <a:pt x="7132" y="5454"/>
                </a:lnTo>
                <a:lnTo>
                  <a:pt x="3558" y="7038"/>
                </a:lnTo>
                <a:lnTo>
                  <a:pt x="0" y="5387"/>
                </a:lnTo>
                <a:close/>
              </a:path>
            </a:pathLst>
          </a:custGeom>
          <a:noFill/>
          <a:ln w="12700">
            <a:solidFill>
              <a:srgbClr val="E5A744"/>
            </a:solidFill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5A744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85000" lnSpcReduction="10000"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5A744"/>
                </a:solidFill>
                <a:latin typeface="思源黑体 Normal"/>
                <a:ea typeface="思源黑体 Normal"/>
              </a:rPr>
              <a:t>Investigating the Boundary Between Linear and Non-Linear Classification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7347" y="1259378"/>
            <a:ext cx="4761772" cy="466168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224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01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756712" y="1788954"/>
            <a:ext cx="5040000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</p:cxnSp>
      <p:sp>
        <p:nvSpPr>
          <p:cNvPr id="4" name="AutoShape 4"/>
          <p:cNvSpPr/>
          <p:nvPr/>
        </p:nvSpPr>
        <p:spPr>
          <a:xfrm>
            <a:off x="756713" y="3867426"/>
            <a:ext cx="4762915" cy="466168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224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03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756713" y="4366108"/>
            <a:ext cx="5040000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</p:cxnSp>
      <p:sp>
        <p:nvSpPr>
          <p:cNvPr id="6" name="AutoShape 6"/>
          <p:cNvSpPr/>
          <p:nvPr/>
        </p:nvSpPr>
        <p:spPr>
          <a:xfrm>
            <a:off x="6513367" y="1258108"/>
            <a:ext cx="4763183" cy="466168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224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02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6513368" y="1761013"/>
            <a:ext cx="5040000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</p:cxnSp>
      <p:sp>
        <p:nvSpPr>
          <p:cNvPr id="8" name="AutoShape 8"/>
          <p:cNvSpPr/>
          <p:nvPr/>
        </p:nvSpPr>
        <p:spPr>
          <a:xfrm>
            <a:off x="6513367" y="3849011"/>
            <a:ext cx="4762915" cy="466168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224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04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6513368" y="4371188"/>
            <a:ext cx="5040000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756713" y="4448810"/>
            <a:ext cx="5040000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Performance on Digits Benchmark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513195" y="4448810"/>
            <a:ext cx="5040000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Capacity Ablation Insights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57347" y="1798320"/>
            <a:ext cx="5040000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Performance on Linear Gaussian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513195" y="1795780"/>
            <a:ext cx="5040000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Performance on Moons Dataset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57347" y="2239645"/>
            <a:ext cx="5039995" cy="140652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35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Both models achieved 95% accuracy with identical performance, confirming that linear boundaries are optimal for this geometry.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513195" y="2239645"/>
            <a:ext cx="5039995" cy="140652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35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The neural network achieved 8.75% higher accuracy than Softmax, confirming that curved boundaries require non-linear representations.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56713" y="4880610"/>
            <a:ext cx="5039995" cy="140652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35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The neural network achieved 1.5% higher mean accuracy with non-overlapping confidence intervals, showing statistically significant improvement on a real-world task.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513195" y="4880610"/>
            <a:ext cx="5039995" cy="140652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35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On Moons, hidden width h=2 performed like a linear baseline (85% accuracy), h=8 achieved optimal 95% accuracy, and h=32 yielded diminishing returns (93.75% accuracy).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5A744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5A744"/>
                </a:solidFill>
                <a:latin typeface="思源黑体 Normal"/>
                <a:ea typeface="思源黑体 Normal"/>
              </a:rPr>
              <a:t>Experimental Results and Key Findings</a:t>
            </a:r>
            <a:endParaRPr lang="en-US" sz="11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5.jpeg"/>
          <p:cNvPicPr>
            <a:picLocks noChangeAspect="1"/>
          </p:cNvPicPr>
          <p:nvPr/>
        </p:nvPicPr>
        <p:blipFill rotWithShape="1">
          <a:blip r:embed="rId3"/>
          <a:srcRect l="7158" r="7158"/>
          <a:stretch>
            <a:fillRect/>
          </a:stretch>
        </p:blipFill>
        <p:spPr>
          <a:xfrm>
            <a:off x="695325" y="1805552"/>
            <a:ext cx="5344505" cy="4161294"/>
          </a:xfrm>
          <a:custGeom>
            <a:avLst/>
            <a:gdLst/>
            <a:ahLst/>
            <a:cxnLst/>
            <a:rect l="0" t="0" r="0" b="0"/>
            <a:pathLst>
              <a:path w="5198414" h="3959816">
                <a:moveTo>
                  <a:pt x="0" y="0"/>
                </a:moveTo>
                <a:lnTo>
                  <a:pt x="5198414" y="0"/>
                </a:lnTo>
                <a:lnTo>
                  <a:pt x="5198414" y="3959816"/>
                </a:lnTo>
                <a:lnTo>
                  <a:pt x="0" y="3959816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152168" y="1805552"/>
            <a:ext cx="5343831" cy="4161295"/>
          </a:xfrm>
          <a:prstGeom prst="rect">
            <a:avLst/>
          </a:prstGeom>
          <a:solidFill>
            <a:srgbClr val="FAEEE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6304404" y="2179319"/>
            <a:ext cx="5039360" cy="3413760"/>
            <a:chOff x="1805" y="3251"/>
            <a:chExt cx="7936" cy="5376"/>
          </a:xfrm>
          <a:noFill/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  <a:grpFill/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Additional model complexity is justified only when the underlying data geometry is non-linear. The neural network adds no benefit for linearly separable tasks but becomes essential when curved decision boundaries are required.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grp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E5A744"/>
                  </a:solidFill>
                  <a:latin typeface="思源黑体 Normal"/>
                  <a:ea typeface="思源黑体 Normal"/>
                </a:rPr>
                <a:t>Justification for Non-Linear Models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5A74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5A744"/>
                </a:solidFill>
                <a:latin typeface="思源黑体 Normal"/>
                <a:ea typeface="思源黑体 Normal"/>
              </a:rPr>
              <a:t>Conclusion on Model Complexity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5140" y="2088515"/>
            <a:ext cx="5603240" cy="9194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1" i="0" u="none" spc="400" baseline="0">
                <a:ln/>
                <a:solidFill>
                  <a:srgbClr val="E5A744"/>
                </a:solidFill>
                <a:effectLst/>
                <a:latin typeface="思源黑体 Medium"/>
                <a:ea typeface="思源黑体 Medium"/>
              </a:rPr>
              <a:t>PART  02    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496435" y="2969895"/>
            <a:ext cx="6671945" cy="20624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 fontAlgn="auto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sz="4800" b="1" i="0" u="none" spc="300" baseline="0">
                <a:solidFill>
                  <a:srgbClr val="E5A744"/>
                </a:solidFill>
                <a:latin typeface="思源黑体 Medium"/>
                <a:ea typeface="思源黑体 Medium"/>
              </a:rPr>
              <a:t>Ensuring a Fair Comparison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8390" y="1259840"/>
            <a:ext cx="2419985" cy="1986280"/>
            <a:chOff x="1632" y="1984"/>
            <a:chExt cx="3811" cy="3128"/>
          </a:xfrm>
        </p:grpSpPr>
        <p:sp>
          <p:nvSpPr>
            <p:cNvPr id="3" name="Freeform 3"/>
            <p:cNvSpPr/>
            <p:nvPr/>
          </p:nvSpPr>
          <p:spPr>
            <a:xfrm>
              <a:off x="1632" y="1984"/>
              <a:ext cx="3811" cy="3128"/>
            </a:xfrm>
            <a:custGeom>
              <a:avLst/>
              <a:gdLst/>
              <a:ahLst/>
              <a:cxnLst/>
              <a:rect l="l" t="t" r="r" b="b"/>
              <a:pathLst>
                <a:path w="2207901" h="1631566">
                  <a:moveTo>
                    <a:pt x="1278541" y="1414"/>
                  </a:moveTo>
                  <a:cubicBezTo>
                    <a:pt x="365139" y="47636"/>
                    <a:pt x="-305296" y="762099"/>
                    <a:pt x="142501" y="1293202"/>
                  </a:cubicBezTo>
                  <a:cubicBezTo>
                    <a:pt x="412516" y="1613449"/>
                    <a:pt x="1498610" y="1864408"/>
                    <a:pt x="1973004" y="1280353"/>
                  </a:cubicBezTo>
                  <a:cubicBezTo>
                    <a:pt x="2552666" y="566696"/>
                    <a:pt x="1959256" y="-33033"/>
                    <a:pt x="1278541" y="141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/>
                </a:gs>
              </a:gsLst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pic>
          <p:nvPicPr>
            <p:cNvPr id="4" name="image34.jpeg"/>
            <p:cNvPicPr>
              <a:picLocks noChangeAspect="1"/>
            </p:cNvPicPr>
            <p:nvPr/>
          </p:nvPicPr>
          <p:blipFill rotWithShape="1">
            <a:blip r:embed="rId3"/>
            <a:srcRect l="29850" t="4959" r="29583" b="44721"/>
            <a:stretch>
              <a:fillRect/>
            </a:stretch>
          </p:blipFill>
          <p:spPr>
            <a:xfrm>
              <a:off x="1695" y="2024"/>
              <a:ext cx="3685" cy="3047"/>
            </a:xfrm>
            <a:custGeom>
              <a:avLst/>
              <a:gdLst/>
              <a:ahLst/>
              <a:cxnLst/>
              <a:rect l="0" t="0" r="0" b="0"/>
              <a:pathLst>
                <a:path w="2081712" h="1721024">
                  <a:moveTo>
                    <a:pt x="1388864" y="108"/>
                  </a:moveTo>
                  <a:cubicBezTo>
                    <a:pt x="1849049" y="5297"/>
                    <a:pt x="2296758" y="199455"/>
                    <a:pt x="1969409" y="913529"/>
                  </a:cubicBezTo>
                  <a:cubicBezTo>
                    <a:pt x="1326366" y="2316251"/>
                    <a:pt x="312707" y="1523609"/>
                    <a:pt x="122091" y="1246864"/>
                  </a:cubicBezTo>
                  <a:cubicBezTo>
                    <a:pt x="-34648" y="1019303"/>
                    <a:pt x="-245434" y="307969"/>
                    <a:pt x="952763" y="45652"/>
                  </a:cubicBezTo>
                  <a:cubicBezTo>
                    <a:pt x="1080687" y="17646"/>
                    <a:pt x="1235469" y="-1621"/>
                    <a:pt x="1388864" y="108"/>
                  </a:cubicBezTo>
                  <a:close/>
                </a:path>
              </a:pathLst>
            </a:custGeom>
            <a:ln w="6350">
              <a:solidFill>
                <a:schemeClr val="tx1">
                  <a:alpha val="20000"/>
                  <a:lumMod val="40000"/>
                  <a:lumOff val="60000"/>
                </a:schemeClr>
              </a:solidFill>
            </a:ln>
          </p:spPr>
        </p:pic>
      </p:grpSp>
      <p:grpSp>
        <p:nvGrpSpPr>
          <p:cNvPr id="5" name="Group 5"/>
          <p:cNvGrpSpPr/>
          <p:nvPr/>
        </p:nvGrpSpPr>
        <p:grpSpPr>
          <a:xfrm>
            <a:off x="4856798" y="1259840"/>
            <a:ext cx="2419350" cy="1986280"/>
            <a:chOff x="7648" y="1969"/>
            <a:chExt cx="3810" cy="3128"/>
          </a:xfrm>
        </p:grpSpPr>
        <p:sp>
          <p:nvSpPr>
            <p:cNvPr id="6" name="Freeform 6"/>
            <p:cNvSpPr/>
            <p:nvPr/>
          </p:nvSpPr>
          <p:spPr>
            <a:xfrm>
              <a:off x="7648" y="1969"/>
              <a:ext cx="3811" cy="3128"/>
            </a:xfrm>
            <a:custGeom>
              <a:avLst/>
              <a:gdLst/>
              <a:ahLst/>
              <a:cxnLst/>
              <a:rect l="l" t="t" r="r" b="b"/>
              <a:pathLst>
                <a:path w="2207901" h="1631566">
                  <a:moveTo>
                    <a:pt x="1278541" y="1414"/>
                  </a:moveTo>
                  <a:cubicBezTo>
                    <a:pt x="365139" y="47636"/>
                    <a:pt x="-305296" y="762099"/>
                    <a:pt x="142501" y="1293202"/>
                  </a:cubicBezTo>
                  <a:cubicBezTo>
                    <a:pt x="412516" y="1613449"/>
                    <a:pt x="1498610" y="1864408"/>
                    <a:pt x="1973004" y="1280353"/>
                  </a:cubicBezTo>
                  <a:cubicBezTo>
                    <a:pt x="2552666" y="566696"/>
                    <a:pt x="1959256" y="-33033"/>
                    <a:pt x="1278541" y="141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/>
                </a:gs>
              </a:gsLst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pic>
          <p:nvPicPr>
            <p:cNvPr id="7" name="image35.jpeg"/>
            <p:cNvPicPr>
              <a:picLocks noChangeAspect="1"/>
            </p:cNvPicPr>
            <p:nvPr/>
          </p:nvPicPr>
          <p:blipFill rotWithShape="1">
            <a:blip r:embed="rId4"/>
            <a:srcRect l="29348" t="12187" r="29348" b="36579"/>
            <a:stretch>
              <a:fillRect/>
            </a:stretch>
          </p:blipFill>
          <p:spPr>
            <a:xfrm>
              <a:off x="7711" y="2010"/>
              <a:ext cx="3685" cy="3047"/>
            </a:xfrm>
            <a:custGeom>
              <a:avLst/>
              <a:gdLst/>
              <a:ahLst/>
              <a:cxnLst/>
              <a:rect l="0" t="0" r="0" b="0"/>
              <a:pathLst>
                <a:path w="2081712" h="1721024">
                  <a:moveTo>
                    <a:pt x="1388864" y="108"/>
                  </a:moveTo>
                  <a:cubicBezTo>
                    <a:pt x="1849049" y="5297"/>
                    <a:pt x="2296758" y="199455"/>
                    <a:pt x="1969409" y="913529"/>
                  </a:cubicBezTo>
                  <a:cubicBezTo>
                    <a:pt x="1326366" y="2316251"/>
                    <a:pt x="312707" y="1523609"/>
                    <a:pt x="122091" y="1246864"/>
                  </a:cubicBezTo>
                  <a:cubicBezTo>
                    <a:pt x="-34648" y="1019303"/>
                    <a:pt x="-245434" y="307969"/>
                    <a:pt x="952763" y="45652"/>
                  </a:cubicBezTo>
                  <a:cubicBezTo>
                    <a:pt x="1080687" y="17646"/>
                    <a:pt x="1235469" y="-1621"/>
                    <a:pt x="1388864" y="108"/>
                  </a:cubicBezTo>
                  <a:close/>
                </a:path>
              </a:pathLst>
            </a:custGeom>
            <a:ln w="6350">
              <a:solidFill>
                <a:schemeClr val="tx1">
                  <a:alpha val="20000"/>
                  <a:lumMod val="40000"/>
                  <a:lumOff val="60000"/>
                </a:schemeClr>
              </a:solidFill>
            </a:ln>
          </p:spPr>
        </p:pic>
      </p:grpSp>
      <p:grpSp>
        <p:nvGrpSpPr>
          <p:cNvPr id="8" name="Group 8"/>
          <p:cNvGrpSpPr/>
          <p:nvPr/>
        </p:nvGrpSpPr>
        <p:grpSpPr>
          <a:xfrm>
            <a:off x="8624888" y="1259840"/>
            <a:ext cx="2419350" cy="1986280"/>
            <a:chOff x="13582" y="1905"/>
            <a:chExt cx="3810" cy="3128"/>
          </a:xfrm>
        </p:grpSpPr>
        <p:sp>
          <p:nvSpPr>
            <p:cNvPr id="9" name="Freeform 9"/>
            <p:cNvSpPr/>
            <p:nvPr/>
          </p:nvSpPr>
          <p:spPr>
            <a:xfrm>
              <a:off x="13582" y="1905"/>
              <a:ext cx="3811" cy="3128"/>
            </a:xfrm>
            <a:custGeom>
              <a:avLst/>
              <a:gdLst/>
              <a:ahLst/>
              <a:cxnLst/>
              <a:rect l="l" t="t" r="r" b="b"/>
              <a:pathLst>
                <a:path w="2207901" h="1631566">
                  <a:moveTo>
                    <a:pt x="1278541" y="1414"/>
                  </a:moveTo>
                  <a:cubicBezTo>
                    <a:pt x="365139" y="47636"/>
                    <a:pt x="-305296" y="762099"/>
                    <a:pt x="142501" y="1293202"/>
                  </a:cubicBezTo>
                  <a:cubicBezTo>
                    <a:pt x="412516" y="1613449"/>
                    <a:pt x="1498610" y="1864408"/>
                    <a:pt x="1973004" y="1280353"/>
                  </a:cubicBezTo>
                  <a:cubicBezTo>
                    <a:pt x="2552666" y="566696"/>
                    <a:pt x="1959256" y="-33033"/>
                    <a:pt x="1278541" y="141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/>
                </a:gs>
              </a:gsLst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pic>
          <p:nvPicPr>
            <p:cNvPr id="10" name="image36.jpeg"/>
            <p:cNvPicPr>
              <a:picLocks noChangeAspect="1"/>
            </p:cNvPicPr>
            <p:nvPr/>
          </p:nvPicPr>
          <p:blipFill rotWithShape="1">
            <a:blip r:embed="rId5"/>
            <a:srcRect l="9142" t="1047" r="19357" b="10259"/>
            <a:stretch>
              <a:fillRect/>
            </a:stretch>
          </p:blipFill>
          <p:spPr>
            <a:xfrm>
              <a:off x="13645" y="1945"/>
              <a:ext cx="3685" cy="3047"/>
            </a:xfrm>
            <a:custGeom>
              <a:avLst/>
              <a:gdLst/>
              <a:ahLst/>
              <a:cxnLst/>
              <a:rect l="0" t="0" r="0" b="0"/>
              <a:pathLst>
                <a:path w="2081712" h="1721024">
                  <a:moveTo>
                    <a:pt x="1388864" y="108"/>
                  </a:moveTo>
                  <a:cubicBezTo>
                    <a:pt x="1849049" y="5297"/>
                    <a:pt x="2296758" y="199455"/>
                    <a:pt x="1969409" y="913529"/>
                  </a:cubicBezTo>
                  <a:cubicBezTo>
                    <a:pt x="1326366" y="2316251"/>
                    <a:pt x="312707" y="1523609"/>
                    <a:pt x="122091" y="1246864"/>
                  </a:cubicBezTo>
                  <a:cubicBezTo>
                    <a:pt x="-34648" y="1019303"/>
                    <a:pt x="-245434" y="307969"/>
                    <a:pt x="952763" y="45652"/>
                  </a:cubicBezTo>
                  <a:cubicBezTo>
                    <a:pt x="1080687" y="17646"/>
                    <a:pt x="1235469" y="-1621"/>
                    <a:pt x="1388864" y="108"/>
                  </a:cubicBezTo>
                  <a:close/>
                </a:path>
              </a:pathLst>
            </a:custGeom>
            <a:ln w="6350">
              <a:solidFill>
                <a:schemeClr val="tx1">
                  <a:alpha val="20000"/>
                  <a:lumMod val="40000"/>
                  <a:lumOff val="60000"/>
                </a:schemeClr>
              </a:solidFill>
            </a:ln>
          </p:spPr>
        </p:pic>
      </p:grpSp>
      <p:sp>
        <p:nvSpPr>
          <p:cNvPr id="11" name="TextBox 11"/>
          <p:cNvSpPr txBox="1"/>
          <p:nvPr/>
        </p:nvSpPr>
        <p:spPr>
          <a:xfrm>
            <a:off x="588328" y="4041775"/>
            <a:ext cx="3420110" cy="231457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The comparison isolates one variable: the presence or absence of a hidden layer with non-linear activation. All other factors are held constant to ensure valid conclusions.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88010" y="3293110"/>
            <a:ext cx="3420745" cy="7920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Isolating the Architectural Variable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356418" y="4041775"/>
            <a:ext cx="3420110" cy="231457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Both models were trained under identical conditions: learning rate 0.05 for SGD, L2 regularization (lambda=10^-4), batch size 64, 200 epochs, and best validation loss checkpoint selection.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356100" y="3293110"/>
            <a:ext cx="3420745" cy="7920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Identical Training Conditions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124508" y="4041775"/>
            <a:ext cx="3420110" cy="231457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Both models share identical gradient descent implementation, learning rate schedules, and regularization. The only difference is the model architecture itself, not the optimization procedure.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124190" y="3293110"/>
            <a:ext cx="3420745" cy="7920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Shared Optimization Framework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5A744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5A744"/>
                </a:solidFill>
                <a:latin typeface="思源黑体 Normal"/>
                <a:ea typeface="思源黑体 Normal"/>
              </a:rPr>
              <a:t>Controlled Experimental Design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6200000">
            <a:off x="5140844" y="3425030"/>
            <a:ext cx="1979680" cy="2709369"/>
          </a:xfrm>
          <a:prstGeom prst="parallelogram">
            <a:avLst>
              <a:gd name="adj" fmla="val 53226"/>
            </a:avLst>
          </a:prstGeom>
          <a:solidFill>
            <a:srgbClr val="FAEEE1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 rot="16200000">
            <a:off x="5140841" y="1308022"/>
            <a:ext cx="1979680" cy="2709369"/>
          </a:xfrm>
          <a:prstGeom prst="parallelogram">
            <a:avLst>
              <a:gd name="adj" fmla="val 53226"/>
            </a:avLst>
          </a:prstGeom>
          <a:solidFill>
            <a:srgbClr val="FAEEE1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775992" y="1342899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rgbClr val="E5A744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rot="10800000">
            <a:off x="3957107" y="2409204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rgbClr val="E5A744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775992" y="3578734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rgbClr val="E5A744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 rot="10800000">
            <a:off x="3957107" y="4653789"/>
            <a:ext cx="3528253" cy="1380471"/>
          </a:xfrm>
          <a:prstGeom prst="rightArrow">
            <a:avLst>
              <a:gd name="adj1" fmla="val 66953"/>
              <a:gd name="adj2" fmla="val 50000"/>
            </a:avLst>
          </a:prstGeom>
          <a:solidFill>
            <a:srgbClr val="E5A744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973955" y="1581785"/>
            <a:ext cx="2376000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Consistent Data Preprocessing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19075" y="2016760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r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Evaluation used fixed seed for direct comparison and five-seed repeated evaluation for Digits to generate 95% confidence intervals. Statistical significance was confirmed through non-overlapping confidence intervals.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11455" y="4244975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r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Hidden width h=32 provided moderate capacity without being excessive. No aggressive learning rate tuning was applied, ensuring the comparison reflects architectural differences, not hyperparameter optimization.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974188" y="2647315"/>
            <a:ext cx="2375535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Comprehensive Evaluation Protocol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974188" y="3818970"/>
            <a:ext cx="2375535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Equivalent Engineering Rigor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973955" y="4874975"/>
            <a:ext cx="2376000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 fontScale="85000" lnSpcReduction="20000"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Conservative Neural Network Hyperparameters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460105" y="953135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The same train/validation/test splits were applied to all experiments. The validation set was used exclusively for checkpoint selection to prevent data leakage.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462010" y="3188970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All gradients were verified using finite differences (epsilon=10^-5, relative error &lt;10^-6). Stable softmax implementation prevented numerical overflow, and systematic NaN/Inf checks were integrated.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5A744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5A744"/>
                </a:solidFill>
                <a:latin typeface="思源黑体 Normal"/>
                <a:ea typeface="思源黑体 Normal"/>
              </a:rPr>
              <a:t>Rigorous Methodology and Controls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30563" y="1473518"/>
            <a:ext cx="3311824" cy="4932000"/>
          </a:xfrm>
          <a:prstGeom prst="rect">
            <a:avLst/>
          </a:prstGeom>
          <a:solidFill>
            <a:srgbClr val="FAEEE1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430563" y="1473518"/>
            <a:ext cx="3311824" cy="108000"/>
          </a:xfrm>
          <a:prstGeom prst="rect">
            <a:avLst/>
          </a:prstGeom>
          <a:solidFill>
            <a:srgbClr val="E5A744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86435" y="1473518"/>
            <a:ext cx="3311824" cy="4932000"/>
          </a:xfrm>
          <a:prstGeom prst="rect">
            <a:avLst/>
          </a:prstGeom>
          <a:solidFill>
            <a:srgbClr val="FAEEE1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86435" y="1473518"/>
            <a:ext cx="3311824" cy="108000"/>
          </a:xfrm>
          <a:prstGeom prst="rect">
            <a:avLst/>
          </a:prstGeom>
          <a:solidFill>
            <a:srgbClr val="E5A744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174691" y="1473518"/>
            <a:ext cx="3311824" cy="4932000"/>
          </a:xfrm>
          <a:prstGeom prst="rect">
            <a:avLst/>
          </a:prstGeom>
          <a:solidFill>
            <a:srgbClr val="FAEEE1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174691" y="1473518"/>
            <a:ext cx="3311824" cy="108000"/>
          </a:xfrm>
          <a:prstGeom prst="rect">
            <a:avLst/>
          </a:prstGeom>
          <a:solidFill>
            <a:srgbClr val="E5A744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013946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 i="0" u="none" baseline="0">
                <a:solidFill>
                  <a:srgbClr val="E5A744">
                    <a:alpha val="50000"/>
                  </a:srgbClr>
                </a:solidFill>
                <a:latin typeface="思源黑体 Normal"/>
                <a:ea typeface="思源黑体 Normal"/>
              </a:rPr>
              <a:t>03</a:t>
            </a:r>
          </a:p>
        </p:txBody>
      </p:sp>
      <p:sp>
        <p:nvSpPr>
          <p:cNvPr id="9" name="AutoShape 9"/>
          <p:cNvSpPr/>
          <p:nvPr/>
        </p:nvSpPr>
        <p:spPr>
          <a:xfrm>
            <a:off x="2485050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 i="0" u="none" baseline="0">
                <a:solidFill>
                  <a:srgbClr val="E5A744">
                    <a:alpha val="50000"/>
                  </a:srgbClr>
                </a:solidFill>
                <a:latin typeface="思源黑体 Normal"/>
                <a:ea typeface="思源黑体 Normal"/>
              </a:rPr>
              <a:t>01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69818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 i="0" u="none" baseline="0">
                <a:solidFill>
                  <a:srgbClr val="E5A744">
                    <a:alpha val="50000"/>
                  </a:srgbClr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165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Theoretical Grounding for Comparison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555490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0" i="0" u="none" baseline="0">
                <a:solidFill>
                  <a:srgbClr val="000000"/>
                </a:solidFill>
                <a:latin typeface="思源黑体 Normal"/>
                <a:ea typeface="思源黑体 Normal"/>
              </a:rPr>
              <a:t>All confounding variables were controlled: same random seed, learning rate schedule, regularization strength, batch size, shuffle, and early stopping criterion. This ensures internal validity.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555490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Controlled Confounding Variables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12165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0" i="0" u="none" baseline="0">
                <a:solidFill>
                  <a:srgbClr val="000000"/>
                </a:solidFill>
                <a:latin typeface="思源黑体 Normal"/>
                <a:ea typeface="思源黑体 Normal"/>
              </a:rPr>
              <a:t>Both models use the same loss function (cross-entropy) and output layer (softmax). The neural network contains Softmax as a special case when hidden width approaches zero, ensuring the comparison measures what it claims to measure.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298815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0" i="0" u="none" baseline="0">
                <a:solidFill>
                  <a:srgbClr val="000000"/>
                </a:solidFill>
                <a:latin typeface="思源黑体 Normal"/>
                <a:ea typeface="思源黑体 Normal"/>
              </a:rPr>
              <a:t>The comparison is fair because it isolates the architectural difference while holding all other factors constant. This methodological rigor enables valid conclusions about when non-linear classifiers provide genuine advantages over linear baselines.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298815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E5A744"/>
                </a:solidFill>
                <a:latin typeface="思源黑体 Normal"/>
                <a:ea typeface="思源黑体 Normal"/>
              </a:rPr>
              <a:t>Summary of Fair Comparison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E5A744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E5A744"/>
                </a:solidFill>
                <a:latin typeface="思源黑体 Normal"/>
                <a:ea typeface="思源黑体 Normal"/>
              </a:rPr>
              <a:t>Theoretical and Practical Justification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6021" y="955853"/>
            <a:ext cx="8455477" cy="264097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algn="dist">
              <a:defRPr/>
            </a:pPr>
            <a:r>
              <a:rPr lang="zh-CN" altLang="en-US" sz="8800" b="1" i="0" u="none" baseline="0">
                <a:solidFill>
                  <a:srgbClr val="FFFFFF"/>
                </a:solidFill>
                <a:effectLst/>
                <a:latin typeface="思源黑体 Medium"/>
                <a:ea typeface="思源黑体 Medium"/>
              </a:rPr>
              <a:t>Thank you for watching.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1127760" y="3976370"/>
            <a:ext cx="6879308" cy="368300"/>
            <a:chOff x="263" y="6830"/>
            <a:chExt cx="11192" cy="580"/>
          </a:xfrm>
        </p:grpSpPr>
        <p:grpSp>
          <p:nvGrpSpPr>
            <p:cNvPr id="4" name="Group 4"/>
            <p:cNvGrpSpPr/>
            <p:nvPr/>
          </p:nvGrpSpPr>
          <p:grpSpPr>
            <a:xfrm>
              <a:off x="808" y="6830"/>
              <a:ext cx="10647" cy="580"/>
              <a:chOff x="2907276" y="3689857"/>
              <a:chExt cx="6760882" cy="368300"/>
            </a:xfrm>
            <a:noFill/>
          </p:grpSpPr>
          <p:sp>
            <p:nvSpPr>
              <p:cNvPr id="5" name="TextBox 5"/>
              <p:cNvSpPr txBox="1"/>
              <p:nvPr/>
            </p:nvSpPr>
            <p:spPr>
              <a:xfrm>
                <a:off x="2907276" y="3689857"/>
                <a:ext cx="1754222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rtlCol="0" anchor="t">
                <a:spAutoFit/>
              </a:bodyPr>
              <a:lstStyle/>
              <a:p>
                <a:pPr marL="0" algn="l">
                  <a:defRPr/>
                </a:pPr>
                <a:r>
                  <a:rPr lang="zh-CN" altLang="en-US" sz="1800" b="0" i="0" u="none" baseline="0">
                    <a:solidFill>
                      <a:srgbClr val="FFFFFF"/>
                    </a:solidFill>
                    <a:latin typeface="思源黑体 Normal"/>
                    <a:ea typeface="思源黑体 Normal"/>
                  </a:rPr>
                  <a:t>Reporter:</a:t>
                </a:r>
                <a:r>
                  <a:rPr lang="en-US" sz="1800" b="0" i="0" u="none" baseline="0">
                    <a:solidFill>
                      <a:srgbClr val="FFFFFF"/>
                    </a:solidFill>
                    <a:latin typeface="思源黑体 Normal"/>
                    <a:ea typeface="思源黑体 Normal"/>
                  </a:rPr>
                  <a:t>XXX</a:t>
                </a:r>
                <a:endParaRPr lang="en-US" sz="1100"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5597590" y="3689857"/>
                <a:ext cx="4070568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/>
                <a:r>
                  <a:rPr lang="zh-CN" altLang="en-US" sz="1800" b="0" i="0" u="none" baseline="0">
                    <a:solidFill>
                      <a:srgbClr val="FFFFFF"/>
                    </a:solidFill>
                    <a:latin typeface="思源黑体 Normal"/>
                    <a:ea typeface="思源黑体 Normal"/>
                  </a:rPr>
                  <a:t>Date:</a:t>
                </a:r>
                <a:r>
                  <a:rPr lang="en-US" sz="1800" b="0" i="0" u="none" baseline="0">
                    <a:solidFill>
                      <a:srgbClr val="FFFFFF"/>
                    </a:solidFill>
                    <a:latin typeface="思源黑体 Normal"/>
                    <a:ea typeface="思源黑体 Normal"/>
                  </a:rPr>
                  <a:t>20XX-XX-XX</a:t>
                </a:r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263" y="6841"/>
              <a:ext cx="558" cy="558"/>
            </a:xfrm>
            <a:prstGeom prst="ellipse">
              <a:avLst/>
            </a:prstGeom>
            <a:solidFill>
              <a:srgbClr val="E5A744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4489" y="6852"/>
              <a:ext cx="558" cy="558"/>
            </a:xfrm>
            <a:prstGeom prst="ellipse">
              <a:avLst/>
            </a:prstGeom>
            <a:solidFill>
              <a:srgbClr val="E5A744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6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9" dur="5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E5A744"/>
      </a:dk2>
      <a:lt2>
        <a:srgbClr val="FFFFFF"/>
      </a:lt2>
      <a:accent1>
        <a:srgbClr val="E5A744"/>
      </a:accent1>
      <a:accent2>
        <a:srgbClr val="E5A744"/>
      </a:accent2>
      <a:accent3>
        <a:srgbClr val="E5A744"/>
      </a:accent3>
      <a:accent4>
        <a:srgbClr val="E5A744"/>
      </a:accent4>
      <a:accent5>
        <a:srgbClr val="E5A744"/>
      </a:accent5>
      <a:accent6>
        <a:srgbClr val="E5A744"/>
      </a:accent6>
      <a:hlink>
        <a:srgbClr val="262626"/>
      </a:hlink>
      <a:folHlink>
        <a:srgbClr val="262626"/>
      </a:folHlink>
    </a:clrScheme>
    <a:fontScheme name="Office">
      <a:maj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1274</Words>
  <Application>Microsoft Office PowerPoint</Application>
  <PresentationFormat>Widescreen</PresentationFormat>
  <Paragraphs>124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Microsoft YaHei</vt:lpstr>
      <vt:lpstr>Aptos</vt:lpstr>
      <vt:lpstr>Arial</vt:lpstr>
      <vt:lpstr>News Gothic MT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Həsən Məmmədov</cp:lastModifiedBy>
  <cp:revision>6</cp:revision>
  <dcterms:created xsi:type="dcterms:W3CDTF">2026-03-28T18:09:48Z</dcterms:created>
  <dcterms:modified xsi:type="dcterms:W3CDTF">2026-03-29T17:50:01Z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{"ContentPropagator":"文多多","Label":"1","ReservedCode1":"1774721388937","ProduceID":"wenduoduo-pptx-1774721388937","ReservedCode2":"1774721388937","PropagateID":"wenduoduo-pptx1774721388937","ContentProducer":"文多多"}</vt:lpwstr>
  </property>
</Properties>
</file>